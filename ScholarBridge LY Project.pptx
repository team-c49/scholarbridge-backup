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2" r:id="rId4"/>
    <p:sldId id="266" r:id="rId5"/>
    <p:sldId id="267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213FC-66C6-4930-AAD8-6C0E37E6E5CB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304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213FC-66C6-4930-AAD8-6C0E37E6E5CB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816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213FC-66C6-4930-AAD8-6C0E37E6E5CB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694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213FC-66C6-4930-AAD8-6C0E37E6E5CB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962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213FC-66C6-4930-AAD8-6C0E37E6E5CB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048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213FC-66C6-4930-AAD8-6C0E37E6E5CB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709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213FC-66C6-4930-AAD8-6C0E37E6E5CB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013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213FC-66C6-4930-AAD8-6C0E37E6E5CB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381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213FC-66C6-4930-AAD8-6C0E37E6E5CB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868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213FC-66C6-4930-AAD8-6C0E37E6E5CB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676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213FC-66C6-4930-AAD8-6C0E37E6E5CB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960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F213FC-66C6-4930-AAD8-6C0E37E6E5CB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05E5CB-9241-4665-889D-78B918CC36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006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26AED6-E793-48A3-96AF-36A0D1FE2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" y="2219"/>
            <a:ext cx="566958" cy="68557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F5ADD7-F579-4B31-B088-24730AEA7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63" y="0"/>
            <a:ext cx="209677" cy="5440680"/>
          </a:xfrm>
          <a:prstGeom prst="rect">
            <a:avLst/>
          </a:prstGeom>
        </p:spPr>
      </p:pic>
      <p:pic>
        <p:nvPicPr>
          <p:cNvPr id="11" name="Picture 10" descr="A close up of a sign&#10;&#10;Description automatically generated">
            <a:extLst>
              <a:ext uri="{FF2B5EF4-FFF2-40B4-BE49-F238E27FC236}">
                <a16:creationId xmlns:a16="http://schemas.microsoft.com/office/drawing/2014/main" id="{C8EA3854-8902-4417-899A-DE9CBF528C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5826" y="5996934"/>
            <a:ext cx="868683" cy="647487"/>
          </a:xfrm>
          <a:prstGeom prst="rect">
            <a:avLst/>
          </a:prstGeom>
        </p:spPr>
      </p:pic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id="{DA3B82F8-7F36-4AE6-A785-76BCA479C67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63" y="5996934"/>
            <a:ext cx="2655568" cy="6638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4EAF32-4F43-B89B-12A8-19BC91D12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7" y="941802"/>
            <a:ext cx="7417838" cy="1018062"/>
          </a:xfrm>
        </p:spPr>
        <p:txBody>
          <a:bodyPr>
            <a:normAutofit/>
          </a:bodyPr>
          <a:lstStyle/>
          <a:p>
            <a:pPr algn="ctr"/>
            <a:r>
              <a:rPr lang="en-US" sz="4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ScholarBridge</a:t>
            </a:r>
            <a:br>
              <a:rPr lang="en-US" sz="4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1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Where Every Scholarship Finds You</a:t>
            </a:r>
            <a:endParaRPr lang="en-US" sz="40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E9320B-3283-719B-1886-E5F11FD49278}"/>
              </a:ext>
            </a:extLst>
          </p:cNvPr>
          <p:cNvSpPr txBox="1"/>
          <p:nvPr/>
        </p:nvSpPr>
        <p:spPr>
          <a:xfrm>
            <a:off x="4040151" y="2244789"/>
            <a:ext cx="4671530" cy="330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Team No. : C49</a:t>
            </a:r>
          </a:p>
          <a:p>
            <a:pPr algn="ctr"/>
            <a:endParaRPr lang="en-IN" sz="2000" b="1" dirty="0"/>
          </a:p>
          <a:p>
            <a:pPr algn="ctr"/>
            <a:r>
              <a:rPr lang="en-IN" sz="2000" b="1" dirty="0"/>
              <a:t>Team members:</a:t>
            </a:r>
          </a:p>
          <a:p>
            <a:pPr algn="ctr"/>
            <a:endParaRPr lang="en-IN" sz="900" b="1" dirty="0"/>
          </a:p>
          <a:p>
            <a:pPr algn="ctr"/>
            <a:r>
              <a:rPr lang="en-IN" sz="2000" b="1" dirty="0"/>
              <a:t>Soumil Mukhopadhyay - 16010122257</a:t>
            </a:r>
          </a:p>
          <a:p>
            <a:pPr algn="ctr"/>
            <a:r>
              <a:rPr lang="en-IN" sz="2000" b="1" dirty="0"/>
              <a:t>Mayur </a:t>
            </a:r>
            <a:r>
              <a:rPr lang="en-IN" sz="2000" b="1" dirty="0" err="1"/>
              <a:t>Dumbre</a:t>
            </a:r>
            <a:r>
              <a:rPr lang="en-IN" sz="2000" b="1" dirty="0"/>
              <a:t> - 16010122051</a:t>
            </a:r>
          </a:p>
          <a:p>
            <a:pPr algn="ctr"/>
            <a:r>
              <a:rPr lang="en-IN" sz="2000" b="1" dirty="0"/>
              <a:t>Hriday Gandhi – 16010122055</a:t>
            </a:r>
          </a:p>
          <a:p>
            <a:pPr algn="ctr"/>
            <a:r>
              <a:rPr lang="en-IN" sz="2000" b="1" dirty="0"/>
              <a:t>Farzan Irani - 16010122065</a:t>
            </a:r>
          </a:p>
          <a:p>
            <a:pPr algn="ctr"/>
            <a:endParaRPr lang="en-IN" sz="2000" b="1" dirty="0"/>
          </a:p>
          <a:p>
            <a:pPr algn="ctr"/>
            <a:endParaRPr lang="en-IN" sz="2000" b="1" dirty="0"/>
          </a:p>
          <a:p>
            <a:pPr algn="ctr"/>
            <a:r>
              <a:rPr lang="en-IN" sz="2000" b="1" dirty="0"/>
              <a:t>Guide: Prof. Shivani Deosthale</a:t>
            </a:r>
          </a:p>
        </p:txBody>
      </p:sp>
    </p:spTree>
    <p:extLst>
      <p:ext uri="{BB962C8B-B14F-4D97-AF65-F5344CB8AC3E}">
        <p14:creationId xmlns:p14="http://schemas.microsoft.com/office/powerpoint/2010/main" val="1855703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 up of a sign&#10;&#10;Description automatically generated">
            <a:extLst>
              <a:ext uri="{FF2B5EF4-FFF2-40B4-BE49-F238E27FC236}">
                <a16:creationId xmlns:a16="http://schemas.microsoft.com/office/drawing/2014/main" id="{C8EA3854-8902-4417-899A-DE9CBF528C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6705" y="81973"/>
            <a:ext cx="868683" cy="647487"/>
          </a:xfrm>
          <a:prstGeom prst="rect">
            <a:avLst/>
          </a:prstGeom>
        </p:spPr>
      </p:pic>
      <p:pic>
        <p:nvPicPr>
          <p:cNvPr id="8" name="Picture 7" descr="A picture containing drawing&#10;&#10;Description automatically generated">
            <a:extLst>
              <a:ext uri="{FF2B5EF4-FFF2-40B4-BE49-F238E27FC236}">
                <a16:creationId xmlns:a16="http://schemas.microsoft.com/office/drawing/2014/main" id="{64C82230-DFDE-4833-BFB9-9F9B8AFD7B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973"/>
            <a:ext cx="3245736" cy="8114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6F45FCA-9A20-9C13-155E-8BFE35E8D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6342" y="42648"/>
            <a:ext cx="6724262" cy="811434"/>
          </a:xfrm>
        </p:spPr>
        <p:txBody>
          <a:bodyPr/>
          <a:lstStyle/>
          <a:p>
            <a:pPr algn="ctr"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ScholarBridge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A87A69C-CCC9-B39A-B04D-FA8EF8C30C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1136488"/>
              </p:ext>
            </p:extLst>
          </p:nvPr>
        </p:nvGraphicFramePr>
        <p:xfrm>
          <a:off x="6585958" y="1070983"/>
          <a:ext cx="5403879" cy="5616922"/>
        </p:xfrm>
        <a:graphic>
          <a:graphicData uri="http://schemas.openxmlformats.org/drawingml/2006/table">
            <a:tbl>
              <a:tblPr firstRow="1" firstCol="1" bandRow="1"/>
              <a:tblGrid>
                <a:gridCol w="1801293">
                  <a:extLst>
                    <a:ext uri="{9D8B030D-6E8A-4147-A177-3AD203B41FA5}">
                      <a16:colId xmlns:a16="http://schemas.microsoft.com/office/drawing/2014/main" val="759485155"/>
                    </a:ext>
                  </a:extLst>
                </a:gridCol>
                <a:gridCol w="1801293">
                  <a:extLst>
                    <a:ext uri="{9D8B030D-6E8A-4147-A177-3AD203B41FA5}">
                      <a16:colId xmlns:a16="http://schemas.microsoft.com/office/drawing/2014/main" val="3468371548"/>
                    </a:ext>
                  </a:extLst>
                </a:gridCol>
                <a:gridCol w="1801293">
                  <a:extLst>
                    <a:ext uri="{9D8B030D-6E8A-4147-A177-3AD203B41FA5}">
                      <a16:colId xmlns:a16="http://schemas.microsoft.com/office/drawing/2014/main" val="829420414"/>
                    </a:ext>
                  </a:extLst>
                </a:gridCol>
              </a:tblGrid>
              <a:tr h="7134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endParaRPr lang="en-IN" sz="1600" b="1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IN" sz="16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  <a:endParaRPr lang="en-IN" sz="16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12700" cmpd="sng">
                      <a:solidFill>
                        <a:srgbClr val="4F81BD"/>
                      </a:solidFill>
                    </a:lnT>
                    <a:lnB w="254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endParaRPr lang="en-IN" sz="16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Current Portals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12700" cmpd="sng">
                      <a:solidFill>
                        <a:srgbClr val="4F81BD"/>
                      </a:solidFill>
                    </a:lnT>
                    <a:lnB w="254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endParaRPr lang="en-IN" sz="16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ScholarBridge</a:t>
                      </a:r>
                      <a:endParaRPr lang="en-IN" sz="11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12700" cmpd="sng">
                      <a:solidFill>
                        <a:srgbClr val="4F81BD"/>
                      </a:solidFill>
                    </a:lnT>
                    <a:lnB w="254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6094767"/>
                  </a:ext>
                </a:extLst>
              </a:tr>
              <a:tr h="7134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endParaRPr lang="en-IN" sz="14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254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endParaRPr lang="en-IN" sz="1200" kern="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IN" sz="1200" kern="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Multiple forms per trust</a:t>
                      </a:r>
                      <a:endParaRPr lang="en-IN" sz="12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254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endParaRPr lang="en-IN" sz="1200" kern="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IN" sz="1200" kern="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One form → many trusts</a:t>
                      </a:r>
                      <a:endParaRPr lang="en-IN" sz="12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254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388290"/>
                  </a:ext>
                </a:extLst>
              </a:tr>
              <a:tr h="8691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endParaRPr lang="en-IN" sz="14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Financial Control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127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endParaRPr lang="en-IN" sz="1200" kern="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IN" sz="1200" kern="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App-level checks, error-prone</a:t>
                      </a:r>
                      <a:endParaRPr lang="en-IN" sz="12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127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endParaRPr lang="en-IN" sz="1200" kern="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IN" sz="1200" kern="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DB triggers prevent over-approval</a:t>
                      </a:r>
                      <a:endParaRPr lang="en-IN" sz="12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127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9497254"/>
                  </a:ext>
                </a:extLst>
              </a:tr>
              <a:tr h="8691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endParaRPr lang="en-IN" sz="14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Reconciliation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127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endParaRPr lang="en-IN" sz="1200" kern="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IN" sz="1200" kern="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Manual, dispute-prone</a:t>
                      </a:r>
                      <a:endParaRPr lang="en-IN" sz="12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127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endParaRPr lang="en-IN" sz="1200" kern="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IN" sz="1200" kern="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Automated loop: pay → confirm → flag</a:t>
                      </a:r>
                      <a:endParaRPr lang="en-IN" sz="12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127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0641469"/>
                  </a:ext>
                </a:extLst>
              </a:tr>
              <a:tr h="7134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endParaRPr lang="en-IN" sz="14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Security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127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endParaRPr lang="en-IN" sz="1200" kern="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IN" sz="1200" kern="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Basic storage, weak encryption</a:t>
                      </a:r>
                      <a:endParaRPr lang="en-IN" sz="12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127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endParaRPr lang="en-IN" sz="1200" kern="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IN" sz="1200" kern="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App-layer AES-256, signed URLs</a:t>
                      </a:r>
                      <a:endParaRPr lang="en-IN" sz="12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127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5270990"/>
                  </a:ext>
                </a:extLst>
              </a:tr>
              <a:tr h="8691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endParaRPr lang="en-IN" sz="14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Analytics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127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endParaRPr lang="en-IN" sz="1200" kern="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IN" sz="1200" kern="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Minimal lists/reports</a:t>
                      </a:r>
                      <a:endParaRPr lang="en-IN" sz="12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127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endParaRPr lang="en-IN" sz="1200" kern="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IN" sz="1200" kern="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Dashboards: trends, yearly spend</a:t>
                      </a:r>
                      <a:endParaRPr lang="en-IN" sz="12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127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935788"/>
                  </a:ext>
                </a:extLst>
              </a:tr>
              <a:tr h="8691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endParaRPr lang="en-IN" sz="14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Auditability</a:t>
                      </a:r>
                      <a:endParaRPr lang="en-IN" sz="11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127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endParaRPr lang="en-IN" sz="1200" kern="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IN" sz="1200" kern="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Logs are incomplete/tamperable</a:t>
                      </a:r>
                      <a:endParaRPr lang="en-IN" sz="12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127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endParaRPr lang="en-IN" sz="1200" kern="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IN" sz="1200" kern="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Immutable audit logs</a:t>
                      </a:r>
                      <a:endParaRPr lang="en-IN" sz="12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127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10724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CBF216E-8B4E-3B94-ED18-430E6ABB23E5}"/>
              </a:ext>
            </a:extLst>
          </p:cNvPr>
          <p:cNvSpPr txBox="1"/>
          <p:nvPr/>
        </p:nvSpPr>
        <p:spPr>
          <a:xfrm>
            <a:off x="170803" y="1070983"/>
            <a:ext cx="6198846" cy="5616922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wrap="squar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Describe your Idea / Solution / Prototype: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We have created a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web-based Scholarship Management Platform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that unifies multiple trusts and students in one ecosystem, providing a single point of application for students and transparent fund allocation for trusts.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prototype will function as follows:</a:t>
            </a:r>
          </a:p>
          <a:p>
            <a:pPr marL="285750" marR="0" lvl="0" indent="-28575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One Application, Many Trusts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– Students fill one annual form that reaches multiple verified trusts, maximizing outreach and scholarship opportunities.</a:t>
            </a:r>
          </a:p>
          <a:p>
            <a:pPr marL="285750" marR="0" lvl="0" indent="-28575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Verified Ecosystem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– Both students and trusts undergo verification, ensuring authenticity and reducing fraud.</a:t>
            </a:r>
          </a:p>
          <a:p>
            <a:pPr marL="285750" marR="0" lvl="0" indent="-28575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Secure Data Handling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– All sensitive details (Aadhaar, PAN, bank info, documents) are encrypted at the application layer before storage.</a:t>
            </a:r>
          </a:p>
          <a:p>
            <a:pPr marL="285750" marR="0" lvl="0" indent="-28575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Fair &amp; Transparent Approvals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– Database-level checks prevent over-approvals; audit logs ensure accountability.</a:t>
            </a:r>
          </a:p>
          <a:p>
            <a:pPr marL="285750" marR="0" lvl="0" indent="-28575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Payment Reconciliation Loop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– Trusts mark payments, students confirm receipt, and unresolved cases are auto-flagged to SuperAdmin.</a:t>
            </a:r>
          </a:p>
          <a:p>
            <a:pPr marL="285750" marR="0" lvl="0" indent="-28575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Trust Analytics Dashboard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– Trusts can view yearly donations, education-field breakdowns, and trends with charts and reports.</a:t>
            </a:r>
          </a:p>
          <a:p>
            <a:pPr marL="285750" marR="0" lvl="0" indent="-28575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Blacklist &amp; Issue Resolution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– Suspicious students/trusts can be blacklisted; unresolved issues tracked via admin dashboards.</a:t>
            </a:r>
          </a:p>
        </p:txBody>
      </p:sp>
    </p:spTree>
    <p:extLst>
      <p:ext uri="{BB962C8B-B14F-4D97-AF65-F5344CB8AC3E}">
        <p14:creationId xmlns:p14="http://schemas.microsoft.com/office/powerpoint/2010/main" val="1749467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90ED9-922E-A00E-71C3-85BDD6144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 up of a sign&#10;&#10;Description automatically generated">
            <a:extLst>
              <a:ext uri="{FF2B5EF4-FFF2-40B4-BE49-F238E27FC236}">
                <a16:creationId xmlns:a16="http://schemas.microsoft.com/office/drawing/2014/main" id="{DD343555-1960-4370-A552-EABDD920F9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6705" y="81973"/>
            <a:ext cx="868683" cy="647487"/>
          </a:xfrm>
          <a:prstGeom prst="rect">
            <a:avLst/>
          </a:prstGeom>
        </p:spPr>
      </p:pic>
      <p:pic>
        <p:nvPicPr>
          <p:cNvPr id="8" name="Picture 7" descr="A picture containing drawing&#10;&#10;Description automatically generated">
            <a:extLst>
              <a:ext uri="{FF2B5EF4-FFF2-40B4-BE49-F238E27FC236}">
                <a16:creationId xmlns:a16="http://schemas.microsoft.com/office/drawing/2014/main" id="{5D4AAB5D-BD56-3103-5A1F-74A56D0890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973"/>
            <a:ext cx="3245736" cy="8114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3560E9-EDDE-FF6A-B5D3-20E265ADF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5736" y="44945"/>
            <a:ext cx="6724262" cy="811434"/>
          </a:xfrm>
        </p:spPr>
        <p:txBody>
          <a:bodyPr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40FE1D-1FFE-F4A3-A40D-202CC8E74A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56379"/>
            <a:ext cx="12192000" cy="59196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0CEBA7-1686-5F76-FC6D-99A4F538399B}"/>
              </a:ext>
            </a:extLst>
          </p:cNvPr>
          <p:cNvSpPr txBox="1"/>
          <p:nvPr/>
        </p:nvSpPr>
        <p:spPr>
          <a:xfrm>
            <a:off x="8631847" y="856379"/>
            <a:ext cx="3560153" cy="1631216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Tech Stack used:</a:t>
            </a: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Frontend (React.js + Tailwind)</a:t>
            </a: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Backend (Node.js + Express.js)</a:t>
            </a: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Database (PostgreSQL)</a:t>
            </a: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Analytics Charts (Chart.js)</a:t>
            </a:r>
          </a:p>
        </p:txBody>
      </p:sp>
    </p:spTree>
    <p:extLst>
      <p:ext uri="{BB962C8B-B14F-4D97-AF65-F5344CB8AC3E}">
        <p14:creationId xmlns:p14="http://schemas.microsoft.com/office/powerpoint/2010/main" val="2790408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2A888-1C18-68AF-6757-3A8976DBF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 up of a sign&#10;&#10;Description automatically generated">
            <a:extLst>
              <a:ext uri="{FF2B5EF4-FFF2-40B4-BE49-F238E27FC236}">
                <a16:creationId xmlns:a16="http://schemas.microsoft.com/office/drawing/2014/main" id="{7C690FB8-D2C5-2550-F926-13ED0C21791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6705" y="81973"/>
            <a:ext cx="868683" cy="647487"/>
          </a:xfrm>
          <a:prstGeom prst="rect">
            <a:avLst/>
          </a:prstGeom>
        </p:spPr>
      </p:pic>
      <p:pic>
        <p:nvPicPr>
          <p:cNvPr id="8" name="Picture 7" descr="A picture containing drawing&#10;&#10;Description automatically generated">
            <a:extLst>
              <a:ext uri="{FF2B5EF4-FFF2-40B4-BE49-F238E27FC236}">
                <a16:creationId xmlns:a16="http://schemas.microsoft.com/office/drawing/2014/main" id="{CFA0B7D5-1F19-E7DB-444E-2DCEFFC6BC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973"/>
            <a:ext cx="3245736" cy="8114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2B3074-6F6E-223E-969F-5F38D95C3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7641" y="112781"/>
            <a:ext cx="6724262" cy="811434"/>
          </a:xfrm>
        </p:spPr>
        <p:txBody>
          <a:bodyPr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ARCHITECTURE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6DD904-8025-75AE-FF2E-5B30F7CD91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2164" y="1766457"/>
            <a:ext cx="9647671" cy="46165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4B6BE8-208B-6B55-552F-24763DC7A9CF}"/>
              </a:ext>
            </a:extLst>
          </p:cNvPr>
          <p:cNvSpPr txBox="1"/>
          <p:nvPr/>
        </p:nvSpPr>
        <p:spPr>
          <a:xfrm>
            <a:off x="1371782" y="1145266"/>
            <a:ext cx="2771010" cy="369332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Application View</a:t>
            </a:r>
          </a:p>
        </p:txBody>
      </p:sp>
    </p:spTree>
    <p:extLst>
      <p:ext uri="{BB962C8B-B14F-4D97-AF65-F5344CB8AC3E}">
        <p14:creationId xmlns:p14="http://schemas.microsoft.com/office/powerpoint/2010/main" val="825087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5E6AF-4451-E653-4BF9-6D52C78C8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 up of a sign&#10;&#10;Description automatically generated">
            <a:extLst>
              <a:ext uri="{FF2B5EF4-FFF2-40B4-BE49-F238E27FC236}">
                <a16:creationId xmlns:a16="http://schemas.microsoft.com/office/drawing/2014/main" id="{D8C316CA-519B-536B-A338-702D6FE162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6705" y="81973"/>
            <a:ext cx="868683" cy="647487"/>
          </a:xfrm>
          <a:prstGeom prst="rect">
            <a:avLst/>
          </a:prstGeom>
        </p:spPr>
      </p:pic>
      <p:pic>
        <p:nvPicPr>
          <p:cNvPr id="8" name="Picture 7" descr="A picture containing drawing&#10;&#10;Description automatically generated">
            <a:extLst>
              <a:ext uri="{FF2B5EF4-FFF2-40B4-BE49-F238E27FC236}">
                <a16:creationId xmlns:a16="http://schemas.microsoft.com/office/drawing/2014/main" id="{AF1C881A-73B5-D931-7771-16ADFD8612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973"/>
            <a:ext cx="3245736" cy="8114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0D36D3-FB98-C376-2824-BF13598A9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7641" y="81973"/>
            <a:ext cx="6724262" cy="811434"/>
          </a:xfrm>
        </p:spPr>
        <p:txBody>
          <a:bodyPr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ARCHITECTURE DIAGRAM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666F87-794B-3D30-E5C9-25F6C8A60935}"/>
              </a:ext>
            </a:extLst>
          </p:cNvPr>
          <p:cNvSpPr txBox="1"/>
          <p:nvPr/>
        </p:nvSpPr>
        <p:spPr>
          <a:xfrm>
            <a:off x="1278476" y="1098613"/>
            <a:ext cx="2771010" cy="369332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Business 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DBCF67-164C-26CB-B010-58C1E0E998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2836" y="1673151"/>
            <a:ext cx="9806327" cy="4782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427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AF135-198F-7B2B-3710-1A7523A09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 up of a sign&#10;&#10;Description automatically generated">
            <a:extLst>
              <a:ext uri="{FF2B5EF4-FFF2-40B4-BE49-F238E27FC236}">
                <a16:creationId xmlns:a16="http://schemas.microsoft.com/office/drawing/2014/main" id="{2D4297FA-B3C8-1251-2584-3E860CD9E8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6705" y="81973"/>
            <a:ext cx="868683" cy="647487"/>
          </a:xfrm>
          <a:prstGeom prst="rect">
            <a:avLst/>
          </a:prstGeom>
        </p:spPr>
      </p:pic>
      <p:pic>
        <p:nvPicPr>
          <p:cNvPr id="8" name="Picture 7" descr="A picture containing drawing&#10;&#10;Description automatically generated">
            <a:extLst>
              <a:ext uri="{FF2B5EF4-FFF2-40B4-BE49-F238E27FC236}">
                <a16:creationId xmlns:a16="http://schemas.microsoft.com/office/drawing/2014/main" id="{220A160C-64C6-1557-3DCC-764E1F151C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973"/>
            <a:ext cx="3245736" cy="8114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5846BB-442A-D7EE-6972-631385C63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0278" y="81973"/>
            <a:ext cx="6724262" cy="811434"/>
          </a:xfrm>
        </p:spPr>
        <p:txBody>
          <a:bodyPr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28E3963-906F-56C0-C59A-4F201A26FC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930426"/>
              </p:ext>
            </p:extLst>
          </p:nvPr>
        </p:nvGraphicFramePr>
        <p:xfrm>
          <a:off x="6277044" y="1024056"/>
          <a:ext cx="5728344" cy="5688657"/>
        </p:xfrm>
        <a:graphic>
          <a:graphicData uri="http://schemas.openxmlformats.org/drawingml/2006/table">
            <a:tbl>
              <a:tblPr firstRow="1" firstCol="1" bandRow="1"/>
              <a:tblGrid>
                <a:gridCol w="2864172">
                  <a:extLst>
                    <a:ext uri="{9D8B030D-6E8A-4147-A177-3AD203B41FA5}">
                      <a16:colId xmlns:a16="http://schemas.microsoft.com/office/drawing/2014/main" val="2688054788"/>
                    </a:ext>
                  </a:extLst>
                </a:gridCol>
                <a:gridCol w="2864172">
                  <a:extLst>
                    <a:ext uri="{9D8B030D-6E8A-4147-A177-3AD203B41FA5}">
                      <a16:colId xmlns:a16="http://schemas.microsoft.com/office/drawing/2014/main" val="2955829964"/>
                    </a:ext>
                  </a:extLst>
                </a:gridCol>
              </a:tblGrid>
              <a:tr h="9069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endParaRPr lang="en-IN" sz="1800" kern="100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IN" sz="1800" kern="100" dirty="0">
                          <a:effectLst/>
                        </a:rPr>
                        <a:t>Challenges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12700" cmpd="sng">
                      <a:solidFill>
                        <a:srgbClr val="4F81BD"/>
                      </a:solidFill>
                    </a:lnT>
                    <a:lnB w="254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endParaRPr lang="en-IN" sz="1800" kern="100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IN" sz="1800" kern="100" dirty="0">
                          <a:effectLst/>
                        </a:rPr>
                        <a:t>Strategies to Overcome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12700" cmpd="sng">
                      <a:solidFill>
                        <a:srgbClr val="4F81BD"/>
                      </a:solidFill>
                    </a:lnT>
                    <a:lnB w="254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8619550"/>
                  </a:ext>
                </a:extLst>
              </a:tr>
              <a:tr h="9069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endParaRPr lang="en-IN" sz="14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Reliable KYC verification (APIs costly, limited availability)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254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endParaRPr lang="en-IN" sz="14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manual verification + optional paid API fallback for pilot phase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254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362835"/>
                  </a:ext>
                </a:extLst>
              </a:tr>
              <a:tr h="9892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endParaRPr lang="en-IN" sz="14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Preventing over-approval under simultaneous trust actions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127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endParaRPr lang="en-IN" sz="14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Enforce DB triggers &amp; transaction isolation (SELECT FOR UPDATE) to guarantee atomic checks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127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6237153"/>
                  </a:ext>
                </a:extLst>
              </a:tr>
              <a:tr h="9069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endParaRPr lang="en-IN" sz="14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Ensuring encryption &amp; data security without performance loss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127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endParaRPr lang="en-IN" sz="14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Apply AES-256-GCM at app layer; display only masked values in UI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127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519310"/>
                  </a:ext>
                </a:extLst>
              </a:tr>
              <a:tr h="9892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endParaRPr lang="en-IN" sz="14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Building accurate &amp; useful trust analytics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127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endParaRPr lang="en-IN" sz="14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 with basic charts (funds by year/field), scale gradually to advanced dashboards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127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13214"/>
                  </a:ext>
                </a:extLst>
              </a:tr>
              <a:tr h="9892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endParaRPr lang="en-IN" sz="14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Gaining adoption &amp; trust from students and NGOs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127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endParaRPr lang="en-IN" sz="14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Transparent audit logs, one-application model, and Super Admin governance build confidence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127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04951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60FC12E-C204-9AE9-C349-E7B38B0928A3}"/>
              </a:ext>
            </a:extLst>
          </p:cNvPr>
          <p:cNvSpPr txBox="1"/>
          <p:nvPr/>
        </p:nvSpPr>
        <p:spPr>
          <a:xfrm>
            <a:off x="181043" y="1018847"/>
            <a:ext cx="5954488" cy="5693866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wrap="square">
            <a:spAutoFit/>
          </a:bodyPr>
          <a:lstStyle/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Feasibility &amp; Viability:</a:t>
            </a: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85750" marR="0" lvl="0" indent="-28575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Technical Feasibility</a:t>
            </a: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742950" marR="0" lvl="1" indent="-28575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Built on scalable PERN stack (PostgreSQL, Express, React, Node).</a:t>
            </a:r>
          </a:p>
          <a:p>
            <a:pPr marL="742950" marR="0" lvl="1" indent="-28575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DB-level triggers ensure robust financial controls</a:t>
            </a:r>
          </a:p>
          <a:p>
            <a:pPr marL="742950" marR="0" lvl="1" indent="-28575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App-layer AES-256-GCM encryption secures sensitive PII.</a:t>
            </a:r>
          </a:p>
          <a:p>
            <a:pPr marL="285750" marR="0" lvl="0" indent="-28575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Operational Feasibility</a:t>
            </a: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742950" marR="0" lvl="1" indent="-28575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One-application model reduces student workload, increasing adoption.</a:t>
            </a:r>
          </a:p>
          <a:p>
            <a:pPr marL="742950" marR="0" lvl="1" indent="-28575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Trust dashboards and reports ease fund management.</a:t>
            </a:r>
          </a:p>
          <a:p>
            <a:pPr marL="742950" marR="0" lvl="1" indent="-28575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SuperAdmin layer ensures governance &amp; dispute resolution.</a:t>
            </a:r>
          </a:p>
          <a:p>
            <a:pPr marL="285750" marR="0" lvl="0" indent="-28575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Financial Feasibility</a:t>
            </a: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742950" marR="0" lvl="1" indent="-28575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MVP deployable on free/low-cost tiers (Render, Neon, </a:t>
            </a:r>
            <a:r>
              <a:rPr kumimoji="0" lang="en-IN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Cloudinary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).</a:t>
            </a:r>
          </a:p>
          <a:p>
            <a:pPr marL="742950" marR="0" lvl="1" indent="-28575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Minimal infra cost in pilot phase (₹0–₹2k/month).</a:t>
            </a:r>
          </a:p>
          <a:p>
            <a:pPr marL="742950" marR="0" lvl="1" indent="-28575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Long-term: monetization via trust subscriptions &amp; analytics services.</a:t>
            </a:r>
          </a:p>
        </p:txBody>
      </p:sp>
    </p:spTree>
    <p:extLst>
      <p:ext uri="{BB962C8B-B14F-4D97-AF65-F5344CB8AC3E}">
        <p14:creationId xmlns:p14="http://schemas.microsoft.com/office/powerpoint/2010/main" val="2259151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E55D6-6855-FE49-756E-19CAFB09F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 up of a sign&#10;&#10;Description automatically generated">
            <a:extLst>
              <a:ext uri="{FF2B5EF4-FFF2-40B4-BE49-F238E27FC236}">
                <a16:creationId xmlns:a16="http://schemas.microsoft.com/office/drawing/2014/main" id="{C4E0AE93-128B-A663-87EB-5C7094996C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6705" y="81973"/>
            <a:ext cx="868683" cy="647487"/>
          </a:xfrm>
          <a:prstGeom prst="rect">
            <a:avLst/>
          </a:prstGeom>
        </p:spPr>
      </p:pic>
      <p:pic>
        <p:nvPicPr>
          <p:cNvPr id="8" name="Picture 7" descr="A picture containing drawing&#10;&#10;Description automatically generated">
            <a:extLst>
              <a:ext uri="{FF2B5EF4-FFF2-40B4-BE49-F238E27FC236}">
                <a16:creationId xmlns:a16="http://schemas.microsoft.com/office/drawing/2014/main" id="{963DE3F8-A05D-E111-B227-9BEF0E4C9A6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973"/>
            <a:ext cx="3245736" cy="8114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00930F-921E-021F-AFDA-736260E09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7640" y="112548"/>
            <a:ext cx="6724262" cy="811434"/>
          </a:xfrm>
        </p:spPr>
        <p:txBody>
          <a:bodyPr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F54A62-BB45-ACEC-48EA-205A8291D445}"/>
              </a:ext>
            </a:extLst>
          </p:cNvPr>
          <p:cNvSpPr txBox="1"/>
          <p:nvPr/>
        </p:nvSpPr>
        <p:spPr>
          <a:xfrm>
            <a:off x="88490" y="1085030"/>
            <a:ext cx="11961995" cy="2523768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wrap="square">
            <a:spAutoFit/>
          </a:bodyPr>
          <a:lstStyle/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Potential Impact on Target Audience:</a:t>
            </a: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85750" marR="0" lvl="0" indent="-28575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Students: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Greater scholarship reach with a single form, reduced effort, higher chances of aid, and assurance of fair distribution.</a:t>
            </a:r>
          </a:p>
          <a:p>
            <a:pPr marL="285750" marR="0" lvl="0" indent="-28575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Trusts / NGOs: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Transparent fund allocation, easier application review, prevention of duplicate/false beneficiaries, and better analytics for planning.</a:t>
            </a:r>
          </a:p>
          <a:p>
            <a:pPr marL="285750" marR="0" lvl="0" indent="-28575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Super Admin / Regulators: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Stronger governance through audit logs, dispute resolution, and blacklisting to maintain credibility of the ecosystem.</a:t>
            </a:r>
          </a:p>
          <a:p>
            <a:pPr marL="285750" marR="0" lvl="0" indent="-28575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Society at Large: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More students receiving timely aid → higher educational opportunities → stronger, skilled workforce.</a:t>
            </a: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130483-1DE6-3A26-3919-6E3EF951F389}"/>
              </a:ext>
            </a:extLst>
          </p:cNvPr>
          <p:cNvSpPr txBox="1"/>
          <p:nvPr/>
        </p:nvSpPr>
        <p:spPr>
          <a:xfrm>
            <a:off x="88490" y="3769846"/>
            <a:ext cx="5145719" cy="2769989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wrap="square">
            <a:spAutoFit/>
          </a:bodyPr>
          <a:lstStyle/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Benefits of the Solution:</a:t>
            </a: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85750" marR="0" lvl="0" indent="-28575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Social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Promotes equal access to scholarships, reduces bias/fraud, empowers underprivileged students.</a:t>
            </a:r>
          </a:p>
          <a:p>
            <a:pPr marL="285750" marR="0" lvl="0" indent="-28575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Economic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Efficient use of trust funds, reduced admin overhead, sustainability via subscription/analytics model.</a:t>
            </a:r>
          </a:p>
          <a:p>
            <a:pPr marL="285750" marR="0" lvl="0" indent="-28575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Governance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Transparent, accountable ecosystem with immutable logs and automated reconciliation.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319080-2693-EA92-3734-56F0D27567BE}"/>
              </a:ext>
            </a:extLst>
          </p:cNvPr>
          <p:cNvSpPr txBox="1"/>
          <p:nvPr/>
        </p:nvSpPr>
        <p:spPr>
          <a:xfrm>
            <a:off x="5329084" y="3769846"/>
            <a:ext cx="6721401" cy="2754600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wrap="square">
            <a:spAutoFit/>
          </a:bodyPr>
          <a:lstStyle/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Business Model Opportunities</a:t>
            </a: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85750" marR="0" lvl="0" indent="-28575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Government / Institutional Partnerships: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Collaborate with education boards and state agencies to expand scholarship outreach.</a:t>
            </a:r>
          </a:p>
          <a:p>
            <a:pPr marL="285750" marR="0" lvl="0" indent="-28575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Trust Subscriptions: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Offer premium analytics dashboards and bulk application handling for a fee.</a:t>
            </a:r>
          </a:p>
          <a:p>
            <a:pPr marL="285750" marR="0" lvl="0" indent="-28575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Corporate CSR Integration: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Allow corporates to onboard their CSR scholarship programs on the same platform.</a:t>
            </a:r>
          </a:p>
          <a:p>
            <a:pPr marL="285750" marR="0" lvl="0" indent="-28575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Value-added Services: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Verified KYC, automated document verification, and advanced analytics as optional paid features.</a:t>
            </a:r>
          </a:p>
        </p:txBody>
      </p:sp>
    </p:spTree>
    <p:extLst>
      <p:ext uri="{BB962C8B-B14F-4D97-AF65-F5344CB8AC3E}">
        <p14:creationId xmlns:p14="http://schemas.microsoft.com/office/powerpoint/2010/main" val="356736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2C8D9-8131-0AB2-89D5-EA9F5F243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 up of a sign&#10;&#10;Description automatically generated">
            <a:extLst>
              <a:ext uri="{FF2B5EF4-FFF2-40B4-BE49-F238E27FC236}">
                <a16:creationId xmlns:a16="http://schemas.microsoft.com/office/drawing/2014/main" id="{FFDC6CD6-BC66-61D9-72A9-9AD5889AAE4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6705" y="81973"/>
            <a:ext cx="868683" cy="647487"/>
          </a:xfrm>
          <a:prstGeom prst="rect">
            <a:avLst/>
          </a:prstGeom>
        </p:spPr>
      </p:pic>
      <p:pic>
        <p:nvPicPr>
          <p:cNvPr id="8" name="Picture 7" descr="A picture containing drawing&#10;&#10;Description automatically generated">
            <a:extLst>
              <a:ext uri="{FF2B5EF4-FFF2-40B4-BE49-F238E27FC236}">
                <a16:creationId xmlns:a16="http://schemas.microsoft.com/office/drawing/2014/main" id="{B00B5372-E138-AB5B-139B-2D91367314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973"/>
            <a:ext cx="3245736" cy="8114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B26C4A-0B21-20FF-B610-86F9D9CBF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8330" y="81973"/>
            <a:ext cx="6724262" cy="811434"/>
          </a:xfrm>
        </p:spPr>
        <p:txBody>
          <a:bodyPr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E66FC7-C088-F7B2-D8C9-D22806A5D756}"/>
              </a:ext>
            </a:extLst>
          </p:cNvPr>
          <p:cNvSpPr txBox="1"/>
          <p:nvPr/>
        </p:nvSpPr>
        <p:spPr>
          <a:xfrm>
            <a:off x="1124807" y="999689"/>
            <a:ext cx="9942386" cy="5632311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wrap="square">
            <a:spAutoFit/>
          </a:bodyPr>
          <a:lstStyle/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[1] National Scholarship Portal, “About NSP,” Ministry of Electronics &amp; Information Technology, Government of India. [Online]. Available: https://scholarships.gov.in/. [Accessed: 02-Sep-2025].</a:t>
            </a: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[2] A. Al-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Fedaghi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“Conceptualization of Audit Logs,” </a:t>
            </a: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International Journal of Network Security &amp; Its Applications (IJNSA)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vol. 3, no. 6, pp. 127–141, Nov. 2011.</a:t>
            </a: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[3] E.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Blancaflor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P. A. I.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Caseńas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L. J. H.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Rocamora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J. I. Y.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Rosete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W. Rey, "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APPly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A Design of an Online Tertiary Level Scholarship Application Management System," 2022 International Communication Engineering and Cloud Computing Conference (CECCC), Nanjing, China, 2022, pp. 74-78,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doi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10.1109/CECCC56460.2022.10069218. keywords: {Cloud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computing;Scholarships;Delay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effects;Web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servers;Task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analysis;Website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Application;Web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Servers;Scholarship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Management}</a:t>
            </a: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[4]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Orgianus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Yan, et al. "Optimizing scholarship distribution: a management information system approach."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Acta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Logistica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11.2 (2024): 197-209.</a:t>
            </a: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[5]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Jibrin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Mohammed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Abdullahi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Muhammad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Ndagie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Musa, and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Shittu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Tahir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"Development of E-Scholarship System." International Journal of Computer and Information Technology 7.2 (2016): 523-530.</a:t>
            </a: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[6] World Bank Group, “Technology for Transparency and Accountability: A Global Impact,” World Bank Report, 2021. [Online]. Available: https://www.worldbank.org/. [Accessed: 02-Sep-2025].</a:t>
            </a: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[7] A. Sharma and P. Gupta, “Application of Data Analytics in NGOs for Effective Fund Management,” </a:t>
            </a: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International Journal of Computer Applications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vol. 183, no. 32, pp. 15–20, 2021.</a:t>
            </a: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[8]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Cloudinary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Docs, “Image and Video Management as a Service,”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Cloudinary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2024. [Online]. Available: https://cloudinary.com/documentation. [Accessed: 02-Sep-2025].</a:t>
            </a:r>
          </a:p>
        </p:txBody>
      </p:sp>
    </p:spTree>
    <p:extLst>
      <p:ext uri="{BB962C8B-B14F-4D97-AF65-F5344CB8AC3E}">
        <p14:creationId xmlns:p14="http://schemas.microsoft.com/office/powerpoint/2010/main" val="1875174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249</TotalTime>
  <Words>1146</Words>
  <Application>Microsoft Office PowerPoint</Application>
  <PresentationFormat>Widescreen</PresentationFormat>
  <Paragraphs>142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Wingdings</vt:lpstr>
      <vt:lpstr>Office Theme</vt:lpstr>
      <vt:lpstr>ScholarBridge Where Every Scholarship Finds You</vt:lpstr>
      <vt:lpstr>ScholarBridge</vt:lpstr>
      <vt:lpstr>TECHNICAL APPROACH</vt:lpstr>
      <vt:lpstr>ARCHITECTURE DIAGRAM</vt:lpstr>
      <vt:lpstr>ARCHITECTURE DIAGRAM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Aditi  Rajani</dc:creator>
  <cp:lastModifiedBy>Farzan Irani</cp:lastModifiedBy>
  <cp:revision>36</cp:revision>
  <dcterms:created xsi:type="dcterms:W3CDTF">2020-04-30T07:52:47Z</dcterms:created>
  <dcterms:modified xsi:type="dcterms:W3CDTF">2025-09-20T21:30:23Z</dcterms:modified>
</cp:coreProperties>
</file>